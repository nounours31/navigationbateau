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2634" y="-15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CEEF0-A492-4815-9891-81F504C7DC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621191"/>
            <a:ext cx="5143500" cy="3448756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5AC269-F4C3-4148-AB44-5C2C432CCE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F3CA9-E41A-4501-ADA7-F5743E92E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9D787-DC1F-4DAE-9012-B69FF3E47878}" type="datetimeFigureOut">
              <a:rPr lang="fr-FR" smtClean="0"/>
              <a:t>08/10/2024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D8D00-3B64-4EDA-82A2-64E0B2BA7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E9AF0E-7FD1-4F64-A540-096CFEAC8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68A3E-7788-4002-A771-1CA00327BE3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7381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F89EE-FD03-485D-8592-2A68BB1AD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CEA55-A73C-4663-BAB9-26FF6DBCF9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A327D-DFDA-4CBD-AA39-C386DE12A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9D787-DC1F-4DAE-9012-B69FF3E47878}" type="datetimeFigureOut">
              <a:rPr lang="fr-FR" smtClean="0"/>
              <a:t>08/10/2024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C010C-B3CA-4900-82D1-681609AB7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90D0C7-F2C9-4298-AA07-AF2988B12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68A3E-7788-4002-A771-1CA00327BE3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4533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6D90E-8EC0-437B-B65A-953F3C2FE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16" y="2469622"/>
            <a:ext cx="5915025" cy="4120620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849538-A430-44DD-86A7-45FB562A2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916" y="6629225"/>
            <a:ext cx="5915025" cy="2166937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477081-D23C-420C-ABE5-8FECB7AE0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9D787-DC1F-4DAE-9012-B69FF3E47878}" type="datetimeFigureOut">
              <a:rPr lang="fr-FR" smtClean="0"/>
              <a:t>08/10/2024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D134EC-67FB-4459-BCDB-CEC23EEE7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6C6AC-22DA-48DC-BCB8-8E09334E9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68A3E-7788-4002-A771-1CA00327BE3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9860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36121-AA3C-4739-A41A-58D653968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0063AE-DB1F-4D12-B80D-1E506FC1AB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33F833-FA1A-46AD-9838-B25FA81272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F672FA-4CE3-4BF9-92EE-A1A96A4A4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9D787-DC1F-4DAE-9012-B69FF3E47878}" type="datetimeFigureOut">
              <a:rPr lang="fr-FR" smtClean="0"/>
              <a:t>08/10/2024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1C8244-AEA3-4A73-B288-A552A01D3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D2AF29-DBD5-427C-AADF-05C878743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68A3E-7788-4002-A771-1CA00327BE3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2310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9461C-A332-479B-A1E7-9C76AB5DC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527404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DDFCEA-FBA7-442A-980A-849AC1492C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15441E-C829-4EC4-B35A-A17EC47522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E43BE1-C1F3-42C8-BAC5-9642198BDA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710C13-8B36-4D0D-A9B0-BD9E1BFD09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72C565-C51F-470D-BBA0-271DD8ED4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9D787-DC1F-4DAE-9012-B69FF3E47878}" type="datetimeFigureOut">
              <a:rPr lang="fr-FR" smtClean="0"/>
              <a:t>08/10/2024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7D4D5E-3991-4CAE-B0BA-968D56D4D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AC7A88-A0CD-40FC-BAB2-754381BD3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68A3E-7788-4002-A771-1CA00327BE3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6991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C85E1-76A8-41B6-A71A-DAE14A265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D3C48A-77F8-4928-8D93-56C6CE59F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9D787-DC1F-4DAE-9012-B69FF3E47878}" type="datetimeFigureOut">
              <a:rPr lang="fr-FR" smtClean="0"/>
              <a:t>08/10/2024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22308A-C45D-4288-A266-352BE9938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A30386-1447-42EF-B665-090FBEAFD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68A3E-7788-4002-A771-1CA00327BE3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1220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9E490A-1195-4EDA-8477-3F58FBA50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9D787-DC1F-4DAE-9012-B69FF3E47878}" type="datetimeFigureOut">
              <a:rPr lang="fr-FR" smtClean="0"/>
              <a:t>08/10/2024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6AF4B0-B308-44D6-AB50-BA88C74E3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ED3E69-B537-4EAE-B750-026848F92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68A3E-7788-4002-A771-1CA00327BE3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6660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C6F15-00C7-4376-9E9C-5883997CF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1B441-A3B1-47AB-B428-FF83401C7E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FB3398-7F5E-4082-BAAF-53CB16836A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895CD3-C4E8-4651-929F-72A6A9F86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9D787-DC1F-4DAE-9012-B69FF3E47878}" type="datetimeFigureOut">
              <a:rPr lang="fr-FR" smtClean="0"/>
              <a:t>08/10/2024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1A18F-4479-462A-9435-5DB25F8AD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328ED7-692D-4BBC-8C09-496D81F70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68A3E-7788-4002-A771-1CA00327BE3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3404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989B9-EF04-4B8F-90B0-CF62A4D78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02BAC0-6352-4D46-9C6A-F0C52EF839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B4F92D-A917-44CE-B443-63844CFD3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7B1471-E11E-4FD4-8697-90CC8DA8C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9D787-DC1F-4DAE-9012-B69FF3E47878}" type="datetimeFigureOut">
              <a:rPr lang="fr-FR" smtClean="0"/>
              <a:t>08/10/2024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639849-3191-4C0F-80E6-235631793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68C79B-42C8-49CD-B41B-7A339DEAE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68A3E-7788-4002-A771-1CA00327BE3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6701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200B9-32D0-4717-98BF-E77C4905A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46B1E4-77C7-4F9C-8385-6B67DD3EFC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A8CAE0-FE19-444F-A203-5FE7FA8E3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9D787-DC1F-4DAE-9012-B69FF3E47878}" type="datetimeFigureOut">
              <a:rPr lang="fr-FR" smtClean="0"/>
              <a:t>08/10/2024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7DCCA-F9A5-4FAE-931B-77A64764B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D9FB20-5378-4426-9A8B-46B83DDD1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68A3E-7788-4002-A771-1CA00327BE3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1413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165E84-F244-4DD5-8F97-64F514ADB6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7756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BEAB97-F0CA-40DF-9B2D-2B9D97390A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7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D58DEC-94DC-406E-9FC2-E1CD0BCE2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9D787-DC1F-4DAE-9012-B69FF3E47878}" type="datetimeFigureOut">
              <a:rPr lang="fr-FR" smtClean="0"/>
              <a:t>08/10/2024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FC88EA-81E0-4CE8-8779-B87479CAB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2837FD-3EE1-433F-9B22-73479F100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68A3E-7788-4002-A771-1CA00327BE3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292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A1D0E0-DE98-4217-AF36-F54600900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3067B7-A68D-4B28-A19B-9F40613A2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B772AE-40DF-4349-882F-8F53D8A57D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D9D787-DC1F-4DAE-9012-B69FF3E47878}" type="datetimeFigureOut">
              <a:rPr lang="fr-FR" smtClean="0"/>
              <a:t>08/10/2024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B2C778-9268-402F-90E0-5F79DACA83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0295C9-DA03-4C94-B1EA-A6F8191042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868A3E-7788-4002-A771-1CA00327BE3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3535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6210B-0063-4BAD-BE97-20BA66D39D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AC64DF-CAEE-48BD-9BF9-C1C8C80DDE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D892AE-F698-48BC-BA3F-05B65AAC5A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47" y="198611"/>
            <a:ext cx="6858000" cy="97073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B9B3ECB-4575-4AB5-80AF-5397EF7402CC}"/>
              </a:ext>
            </a:extLst>
          </p:cNvPr>
          <p:cNvSpPr txBox="1"/>
          <p:nvPr/>
        </p:nvSpPr>
        <p:spPr>
          <a:xfrm>
            <a:off x="38847" y="-13429"/>
            <a:ext cx="6738472" cy="26161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fr-FR" sz="1100" dirty="0" err="1">
                <a:solidFill>
                  <a:srgbClr val="002060"/>
                </a:solidFill>
                <a:latin typeface="Century" panose="02040604050505020304" pitchFamily="18" charset="0"/>
              </a:rPr>
              <a:t>Hc</a:t>
            </a:r>
            <a:r>
              <a:rPr lang="fr-FR" sz="1100" dirty="0">
                <a:solidFill>
                  <a:srgbClr val="002060"/>
                </a:solidFill>
                <a:latin typeface="Century" panose="02040604050505020304" pitchFamily="18" charset="0"/>
              </a:rPr>
              <a:t> = Sin</a:t>
            </a:r>
            <a:r>
              <a:rPr lang="fr-FR" sz="1100" baseline="30000" dirty="0">
                <a:solidFill>
                  <a:srgbClr val="002060"/>
                </a:solidFill>
                <a:latin typeface="Century" panose="02040604050505020304" pitchFamily="18" charset="0"/>
              </a:rPr>
              <a:t>-1</a:t>
            </a:r>
            <a:r>
              <a:rPr lang="fr-FR" sz="1100" dirty="0">
                <a:solidFill>
                  <a:srgbClr val="002060"/>
                </a:solidFill>
                <a:latin typeface="Century" panose="02040604050505020304" pitchFamily="18" charset="0"/>
              </a:rPr>
              <a:t>(Sin(</a:t>
            </a:r>
            <a:r>
              <a:rPr lang="fr-FR" sz="1100" dirty="0" err="1">
                <a:solidFill>
                  <a:srgbClr val="002060"/>
                </a:solidFill>
                <a:latin typeface="Century" panose="02040604050505020304" pitchFamily="18" charset="0"/>
              </a:rPr>
              <a:t>Latitude</a:t>
            </a:r>
            <a:r>
              <a:rPr lang="fr-FR" sz="1100" baseline="-25000" dirty="0" err="1">
                <a:solidFill>
                  <a:srgbClr val="002060"/>
                </a:solidFill>
                <a:latin typeface="Century" panose="02040604050505020304" pitchFamily="18" charset="0"/>
              </a:rPr>
              <a:t>E</a:t>
            </a:r>
            <a:r>
              <a:rPr lang="fr-FR" sz="1100" dirty="0">
                <a:solidFill>
                  <a:srgbClr val="002060"/>
                </a:solidFill>
                <a:latin typeface="Century" panose="02040604050505020304" pitchFamily="18" charset="0"/>
              </a:rPr>
              <a:t>) x Sin(</a:t>
            </a:r>
            <a:r>
              <a:rPr lang="fr-FR" sz="1100" dirty="0" err="1">
                <a:solidFill>
                  <a:srgbClr val="002060"/>
                </a:solidFill>
                <a:latin typeface="Century" panose="02040604050505020304" pitchFamily="18" charset="0"/>
              </a:rPr>
              <a:t>Declination</a:t>
            </a:r>
            <a:r>
              <a:rPr lang="fr-FR" sz="1100" dirty="0">
                <a:solidFill>
                  <a:srgbClr val="002060"/>
                </a:solidFill>
                <a:latin typeface="Century" panose="02040604050505020304" pitchFamily="18" charset="0"/>
              </a:rPr>
              <a:t>) + Cos(</a:t>
            </a:r>
            <a:r>
              <a:rPr lang="fr-FR" sz="1100" dirty="0" err="1">
                <a:solidFill>
                  <a:srgbClr val="002060"/>
                </a:solidFill>
                <a:latin typeface="Century" panose="02040604050505020304" pitchFamily="18" charset="0"/>
              </a:rPr>
              <a:t>Latitude</a:t>
            </a:r>
            <a:r>
              <a:rPr lang="fr-FR" sz="1100" baseline="-25000" dirty="0" err="1">
                <a:solidFill>
                  <a:srgbClr val="002060"/>
                </a:solidFill>
                <a:latin typeface="Century" panose="02040604050505020304" pitchFamily="18" charset="0"/>
              </a:rPr>
              <a:t>E</a:t>
            </a:r>
            <a:r>
              <a:rPr lang="fr-FR" sz="1100" dirty="0">
                <a:solidFill>
                  <a:srgbClr val="002060"/>
                </a:solidFill>
                <a:latin typeface="Century" panose="02040604050505020304" pitchFamily="18" charset="0"/>
              </a:rPr>
              <a:t>) x Cos(</a:t>
            </a:r>
            <a:r>
              <a:rPr lang="fr-FR" sz="1100" dirty="0" err="1">
                <a:solidFill>
                  <a:srgbClr val="002060"/>
                </a:solidFill>
                <a:latin typeface="Century" panose="02040604050505020304" pitchFamily="18" charset="0"/>
              </a:rPr>
              <a:t>Declination</a:t>
            </a:r>
            <a:r>
              <a:rPr lang="fr-FR" sz="1100" dirty="0">
                <a:solidFill>
                  <a:srgbClr val="002060"/>
                </a:solidFill>
                <a:latin typeface="Century" panose="02040604050505020304" pitchFamily="18" charset="0"/>
              </a:rPr>
              <a:t>) x Cos(LHA)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DAEE95-0D89-49B9-ACD9-153EA6B82B05}"/>
              </a:ext>
            </a:extLst>
          </p:cNvPr>
          <p:cNvSpPr txBox="1"/>
          <p:nvPr/>
        </p:nvSpPr>
        <p:spPr>
          <a:xfrm>
            <a:off x="4691530" y="2891544"/>
            <a:ext cx="250390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FR" sz="1200" dirty="0"/>
              <a:t>c</a:t>
            </a:r>
            <a:endParaRPr lang="fr-FR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AD260A-6087-49F2-91CF-04097198136F}"/>
              </a:ext>
            </a:extLst>
          </p:cNvPr>
          <p:cNvSpPr/>
          <p:nvPr/>
        </p:nvSpPr>
        <p:spPr>
          <a:xfrm>
            <a:off x="5050118" y="1176293"/>
            <a:ext cx="83670" cy="2616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0CEAED-28B0-490D-9833-A0A39128F4E7}"/>
              </a:ext>
            </a:extLst>
          </p:cNvPr>
          <p:cNvSpPr txBox="1"/>
          <p:nvPr/>
        </p:nvSpPr>
        <p:spPr>
          <a:xfrm>
            <a:off x="4956704" y="1248005"/>
            <a:ext cx="2439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/>
              <a:t>c</a:t>
            </a:r>
            <a:endParaRPr lang="fr-FR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2C550C1-D078-4E7D-8033-B589EEC11291}"/>
              </a:ext>
            </a:extLst>
          </p:cNvPr>
          <p:cNvSpPr/>
          <p:nvPr/>
        </p:nvSpPr>
        <p:spPr>
          <a:xfrm>
            <a:off x="4141694" y="1248005"/>
            <a:ext cx="243978" cy="1445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28B1CF-81C0-4027-AD88-4E49C1BD82C2}"/>
              </a:ext>
            </a:extLst>
          </p:cNvPr>
          <p:cNvSpPr txBox="1"/>
          <p:nvPr/>
        </p:nvSpPr>
        <p:spPr>
          <a:xfrm>
            <a:off x="4140637" y="1226584"/>
            <a:ext cx="2439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/>
              <a:t>c</a:t>
            </a: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FDDB45D-5979-4FF5-A2F7-10B87AD72192}"/>
                  </a:ext>
                </a:extLst>
              </p:cNvPr>
              <p:cNvSpPr txBox="1"/>
              <p:nvPr/>
            </p:nvSpPr>
            <p:spPr>
              <a:xfrm>
                <a:off x="38847" y="4135717"/>
                <a:ext cx="1462388" cy="3124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𝑂𝐴</m:t>
                          </m:r>
                        </m:e>
                      </m:acc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∗</m:t>
                      </m:r>
                      <m:acc>
                        <m:accPr>
                          <m:chr m:val="⃗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𝑂𝐵</m:t>
                          </m:r>
                        </m:e>
                      </m:acc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 …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FDDB45D-5979-4FF5-A2F7-10B87AD721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47" y="4135717"/>
                <a:ext cx="1462388" cy="312458"/>
              </a:xfrm>
              <a:prstGeom prst="rect">
                <a:avLst/>
              </a:prstGeom>
              <a:blipFill>
                <a:blip r:embed="rId3"/>
                <a:stretch>
                  <a:fillRect l="-3333" b="-576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23FA8672-2285-4320-AD4A-9E8F9CCBD6BB}"/>
              </a:ext>
            </a:extLst>
          </p:cNvPr>
          <p:cNvSpPr txBox="1"/>
          <p:nvPr/>
        </p:nvSpPr>
        <p:spPr>
          <a:xfrm>
            <a:off x="38847" y="9549442"/>
            <a:ext cx="6738472" cy="26161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fr-FR" sz="1100" dirty="0">
                <a:solidFill>
                  <a:srgbClr val="002060"/>
                </a:solidFill>
                <a:latin typeface="Century" panose="02040604050505020304" pitchFamily="18" charset="0"/>
              </a:rPr>
              <a:t>Z = Cos</a:t>
            </a:r>
            <a:r>
              <a:rPr lang="fr-FR" sz="1100" baseline="30000" dirty="0">
                <a:solidFill>
                  <a:srgbClr val="002060"/>
                </a:solidFill>
                <a:latin typeface="Century" panose="02040604050505020304" pitchFamily="18" charset="0"/>
              </a:rPr>
              <a:t>-1</a:t>
            </a:r>
            <a:r>
              <a:rPr lang="fr-FR" sz="1100" dirty="0">
                <a:solidFill>
                  <a:srgbClr val="002060"/>
                </a:solidFill>
                <a:latin typeface="Century" panose="02040604050505020304" pitchFamily="18" charset="0"/>
              </a:rPr>
              <a:t>((Sin(</a:t>
            </a:r>
            <a:r>
              <a:rPr lang="fr-FR" sz="1100" dirty="0" err="1">
                <a:solidFill>
                  <a:srgbClr val="002060"/>
                </a:solidFill>
                <a:latin typeface="Century" panose="02040604050505020304" pitchFamily="18" charset="0"/>
              </a:rPr>
              <a:t>Declination</a:t>
            </a:r>
            <a:r>
              <a:rPr lang="fr-FR" sz="1100" dirty="0">
                <a:solidFill>
                  <a:srgbClr val="002060"/>
                </a:solidFill>
                <a:latin typeface="Century" panose="02040604050505020304" pitchFamily="18" charset="0"/>
              </a:rPr>
              <a:t>)  - Sin(</a:t>
            </a:r>
            <a:r>
              <a:rPr lang="fr-FR" sz="1100" dirty="0" err="1">
                <a:solidFill>
                  <a:srgbClr val="002060"/>
                </a:solidFill>
                <a:latin typeface="Century" panose="02040604050505020304" pitchFamily="18" charset="0"/>
              </a:rPr>
              <a:t>Latitude</a:t>
            </a:r>
            <a:r>
              <a:rPr lang="fr-FR" sz="1100" baseline="-25000" dirty="0" err="1">
                <a:solidFill>
                  <a:srgbClr val="002060"/>
                </a:solidFill>
                <a:latin typeface="Century" panose="02040604050505020304" pitchFamily="18" charset="0"/>
              </a:rPr>
              <a:t>E</a:t>
            </a:r>
            <a:r>
              <a:rPr lang="fr-FR" sz="1100" dirty="0">
                <a:solidFill>
                  <a:srgbClr val="002060"/>
                </a:solidFill>
                <a:latin typeface="Century" panose="02040604050505020304" pitchFamily="18" charset="0"/>
              </a:rPr>
              <a:t>) x Sin (</a:t>
            </a:r>
            <a:r>
              <a:rPr lang="fr-FR" sz="1100" dirty="0" err="1">
                <a:solidFill>
                  <a:srgbClr val="002060"/>
                </a:solidFill>
                <a:latin typeface="Century" panose="02040604050505020304" pitchFamily="18" charset="0"/>
              </a:rPr>
              <a:t>H</a:t>
            </a:r>
            <a:r>
              <a:rPr lang="fr-FR" sz="1100" baseline="-25000" dirty="0" err="1">
                <a:solidFill>
                  <a:srgbClr val="002060"/>
                </a:solidFill>
                <a:latin typeface="Century" panose="02040604050505020304" pitchFamily="18" charset="0"/>
              </a:rPr>
              <a:t>c</a:t>
            </a:r>
            <a:r>
              <a:rPr lang="fr-FR" sz="1100" dirty="0">
                <a:solidFill>
                  <a:srgbClr val="002060"/>
                </a:solidFill>
                <a:latin typeface="Century" panose="02040604050505020304" pitchFamily="18" charset="0"/>
              </a:rPr>
              <a:t>)) / (Cos(</a:t>
            </a:r>
            <a:r>
              <a:rPr lang="fr-FR" sz="1100" dirty="0" err="1">
                <a:solidFill>
                  <a:srgbClr val="002060"/>
                </a:solidFill>
                <a:latin typeface="Century" panose="02040604050505020304" pitchFamily="18" charset="0"/>
              </a:rPr>
              <a:t>Latitude</a:t>
            </a:r>
            <a:r>
              <a:rPr lang="fr-FR" sz="1100" baseline="-25000" dirty="0" err="1">
                <a:solidFill>
                  <a:srgbClr val="002060"/>
                </a:solidFill>
                <a:latin typeface="Century" panose="02040604050505020304" pitchFamily="18" charset="0"/>
              </a:rPr>
              <a:t>E</a:t>
            </a:r>
            <a:r>
              <a:rPr lang="fr-FR" sz="1100" dirty="0">
                <a:solidFill>
                  <a:srgbClr val="002060"/>
                </a:solidFill>
                <a:latin typeface="Century" panose="02040604050505020304" pitchFamily="18" charset="0"/>
              </a:rPr>
              <a:t>) x Cos(</a:t>
            </a:r>
            <a:r>
              <a:rPr lang="fr-FR" sz="1100" dirty="0" err="1">
                <a:solidFill>
                  <a:srgbClr val="002060"/>
                </a:solidFill>
                <a:latin typeface="Century" panose="02040604050505020304" pitchFamily="18" charset="0"/>
              </a:rPr>
              <a:t>H</a:t>
            </a:r>
            <a:r>
              <a:rPr lang="fr-FR" sz="1100" baseline="-25000" dirty="0" err="1">
                <a:solidFill>
                  <a:srgbClr val="002060"/>
                </a:solidFill>
                <a:latin typeface="Century" panose="02040604050505020304" pitchFamily="18" charset="0"/>
              </a:rPr>
              <a:t>c</a:t>
            </a:r>
            <a:r>
              <a:rPr lang="fr-FR" sz="1100" dirty="0">
                <a:solidFill>
                  <a:srgbClr val="002060"/>
                </a:solidFill>
                <a:latin typeface="Century" panose="02040604050505020304" pitchFamily="18" charset="0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20986019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65</Words>
  <Application>Microsoft Office PowerPoint</Application>
  <PresentationFormat>A4 Paper (210x297 mm)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Century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FAGES Pierre</dc:creator>
  <cp:lastModifiedBy>FAGES Pierre</cp:lastModifiedBy>
  <cp:revision>4</cp:revision>
  <dcterms:created xsi:type="dcterms:W3CDTF">2024-10-08T10:40:26Z</dcterms:created>
  <dcterms:modified xsi:type="dcterms:W3CDTF">2024-10-08T11:24:53Z</dcterms:modified>
</cp:coreProperties>
</file>